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5980626-C5F4-4434-B6BF-259199FC47A9}">
          <p14:sldIdLst>
            <p14:sldId id="256"/>
            <p14:sldId id="257"/>
            <p14:sldId id="258"/>
            <p14:sldId id="260"/>
          </p14:sldIdLst>
        </p14:section>
        <p14:section name="Untitled Section" id="{B661B80E-019F-4D5E-9498-4056BBB15424}">
          <p14:sldIdLst>
            <p14:sldId id="261"/>
            <p14:sldId id="262"/>
            <p14:sldId id="263"/>
            <p14:sldId id="264"/>
            <p14:sldId id="265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91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roject%20Internship\Copy%20of%20dataset_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roject%20Internship\Copy%20of%20dataset_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[Copy of dataset_1.xlsx]Pivot!PivotTable2</c:name>
    <c:fmtId val="6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Pivot!$B$60:$B$61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Pivot!$A$62:$A$69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Pivot!$B$62:$B$69</c:f>
              <c:numCache>
                <c:formatCode>General</c:formatCode>
                <c:ptCount val="7"/>
                <c:pt idx="0">
                  <c:v>4204</c:v>
                </c:pt>
                <c:pt idx="1">
                  <c:v>3593</c:v>
                </c:pt>
                <c:pt idx="2">
                  <c:v>5456</c:v>
                </c:pt>
                <c:pt idx="3">
                  <c:v>6638</c:v>
                </c:pt>
                <c:pt idx="4">
                  <c:v>6173</c:v>
                </c:pt>
                <c:pt idx="5">
                  <c:v>4648</c:v>
                </c:pt>
                <c:pt idx="6">
                  <c:v>6661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C9-434F-8FF8-AC6825C25987}"/>
            </c:ext>
          </c:extLst>
        </c:ser>
        <c:ser>
          <c:idx val="1"/>
          <c:order val="1"/>
          <c:tx>
            <c:strRef>
              <c:f>Pivot!$C$60:$C$61</c:f>
              <c:strCache>
                <c:ptCount val="1"/>
                <c:pt idx="0">
                  <c:v>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Pivot!$A$62:$A$69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Pivot!$C$62:$C$69</c:f>
              <c:numCache>
                <c:formatCode>General</c:formatCode>
                <c:ptCount val="7"/>
                <c:pt idx="0">
                  <c:v>3975</c:v>
                </c:pt>
                <c:pt idx="1">
                  <c:v>4315</c:v>
                </c:pt>
                <c:pt idx="2">
                  <c:v>1606</c:v>
                </c:pt>
                <c:pt idx="3">
                  <c:v>1794</c:v>
                </c:pt>
                <c:pt idx="4">
                  <c:v>2636</c:v>
                </c:pt>
                <c:pt idx="5">
                  <c:v>2539</c:v>
                </c:pt>
                <c:pt idx="6">
                  <c:v>1241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5C9-434F-8FF8-AC6825C25987}"/>
            </c:ext>
          </c:extLst>
        </c:ser>
        <c:ser>
          <c:idx val="2"/>
          <c:order val="2"/>
          <c:tx>
            <c:strRef>
              <c:f>Pivot!$D$60:$D$61</c:f>
              <c:strCache>
                <c:ptCount val="1"/>
                <c:pt idx="0">
                  <c:v>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Pivot!$A$62:$A$69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Pivot!$D$62:$D$69</c:f>
              <c:numCache>
                <c:formatCode>General</c:formatCode>
                <c:ptCount val="7"/>
                <c:pt idx="0">
                  <c:v>271</c:v>
                </c:pt>
                <c:pt idx="1">
                  <c:v>475</c:v>
                </c:pt>
                <c:pt idx="2">
                  <c:v>951</c:v>
                </c:pt>
                <c:pt idx="3">
                  <c:v>26</c:v>
                </c:pt>
                <c:pt idx="4">
                  <c:v>286</c:v>
                </c:pt>
                <c:pt idx="5">
                  <c:v>561</c:v>
                </c:pt>
                <c:pt idx="6">
                  <c:v>219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5C9-434F-8FF8-AC6825C25987}"/>
            </c:ext>
          </c:extLst>
        </c:ser>
        <c:ser>
          <c:idx val="3"/>
          <c:order val="3"/>
          <c:tx>
            <c:strRef>
              <c:f>Pivot!$E$60:$E$61</c:f>
              <c:strCache>
                <c:ptCount val="1"/>
                <c:pt idx="0">
                  <c:v>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Pivot!$A$62:$A$69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Pivot!$E$62:$E$69</c:f>
              <c:numCache>
                <c:formatCode>General</c:formatCode>
                <c:ptCount val="7"/>
                <c:pt idx="2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5C9-434F-8FF8-AC6825C259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49139760"/>
        <c:axId val="773769632"/>
      </c:barChart>
      <c:catAx>
        <c:axId val="849139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3769632"/>
        <c:crosses val="autoZero"/>
        <c:auto val="1"/>
        <c:lblAlgn val="ctr"/>
        <c:lblOffset val="100"/>
        <c:noMultiLvlLbl val="0"/>
      </c:catAx>
      <c:valAx>
        <c:axId val="7737696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9139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/>
            </a:pPr>
            <a:r>
              <a:rPr lang="en-US" sz="1800" dirty="0"/>
              <a:t>Time</a:t>
            </a:r>
            <a:r>
              <a:rPr lang="en-US" sz="1800" baseline="0" dirty="0"/>
              <a:t> Wise Clients</a:t>
            </a:r>
            <a:endParaRPr lang="en-US" sz="1800" dirty="0"/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client count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400</c:v>
                </c:pt>
                <c:pt idx="1">
                  <c:v>250</c:v>
                </c:pt>
                <c:pt idx="2">
                  <c:v>180</c:v>
                </c:pt>
                <c:pt idx="3">
                  <c:v>500</c:v>
                </c:pt>
                <c:pt idx="4">
                  <c:v>2300</c:v>
                </c:pt>
                <c:pt idx="5">
                  <c:v>5200</c:v>
                </c:pt>
                <c:pt idx="6">
                  <c:v>2800</c:v>
                </c:pt>
                <c:pt idx="7">
                  <c:v>3100</c:v>
                </c:pt>
                <c:pt idx="8">
                  <c:v>4300</c:v>
                </c:pt>
                <c:pt idx="9">
                  <c:v>6000</c:v>
                </c:pt>
                <c:pt idx="10">
                  <c:v>4200</c:v>
                </c:pt>
                <c:pt idx="11">
                  <c:v>1200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0EF-43AA-9B9C-6E03FD9B46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[Copy of dataset_1.xlsx]Pivot!PivotTable5</c:name>
    <c:fmtId val="24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1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2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2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2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</c:pivotFmts>
    <c:plotArea>
      <c:layout/>
      <c:pieChart>
        <c:varyColors val="1"/>
        <c:ser>
          <c:idx val="0"/>
          <c:order val="0"/>
          <c:tx>
            <c:strRef>
              <c:f>Pivot!$B$197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1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0B93-434F-ADBE-4468E00B0D69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2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0B93-434F-ADBE-4468E00B0D69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3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5-0B93-434F-ADBE-4468E00B0D69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4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7-0B93-434F-ADBE-4468E00B0D69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5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9-0B93-434F-ADBE-4468E00B0D69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6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B-0B93-434F-ADBE-4468E00B0D69}"/>
              </c:ext>
            </c:extLst>
          </c:dPt>
          <c:dPt>
            <c:idx val="6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1">
                      <a:lumMod val="60000"/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D-0B93-434F-ADBE-4468E00B0D6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Pivot!$A$198:$A$205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Pivot!$B$198:$B$205</c:f>
              <c:numCache>
                <c:formatCode>General</c:formatCode>
                <c:ptCount val="7"/>
                <c:pt idx="0">
                  <c:v>534</c:v>
                </c:pt>
                <c:pt idx="1">
                  <c:v>457</c:v>
                </c:pt>
                <c:pt idx="2">
                  <c:v>344</c:v>
                </c:pt>
                <c:pt idx="3">
                  <c:v>332</c:v>
                </c:pt>
                <c:pt idx="4">
                  <c:v>552</c:v>
                </c:pt>
                <c:pt idx="5">
                  <c:v>1225</c:v>
                </c:pt>
                <c:pt idx="6">
                  <c:v>1477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0B93-434F-ADBE-4468E00B0D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/>
            </a:pPr>
            <a:r>
              <a:rPr lang="en-US" sz="1600"/>
              <a:t>Top 5 dates shown in dashboard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Client value</c:v>
                </c:pt>
              </c:strCache>
            </c:strRef>
          </c:tx>
          <c:spPr>
            <a:solidFill>
              <a:srgbClr val="DCA400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25-01-11</c:v>
                </c:pt>
                <c:pt idx="1">
                  <c:v>20-01-11</c:v>
                </c:pt>
                <c:pt idx="2">
                  <c:v>11-02-11</c:v>
                </c:pt>
                <c:pt idx="3">
                  <c:v>07-02-11</c:v>
                </c:pt>
                <c:pt idx="4">
                  <c:v>04-02-11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1985</c:v>
                </c:pt>
                <c:pt idx="1">
                  <c:v>1927</c:v>
                </c:pt>
                <c:pt idx="2">
                  <c:v>1746</c:v>
                </c:pt>
                <c:pt idx="3">
                  <c:v>1712</c:v>
                </c:pt>
                <c:pt idx="4">
                  <c:v>1708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1B3-44A1-97FC-753456C4BC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 baseline="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16-Oct-26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16-Oct-26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704088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800" b="1">
                <a:solidFill>
                  <a:srgbClr val="DC6300"/>
                </a:solidFill>
                <a:latin typeface="Aptos"/>
              </a:defRPr>
            </a:pPr>
            <a:r>
              <a:t>BIKE SHARING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7132320" cy="1645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3800" b="1">
                <a:solidFill>
                  <a:srgbClr val="1C304A"/>
                </a:solidFill>
                <a:latin typeface="Aptos"/>
              </a:defRPr>
            </a:pPr>
            <a:r>
              <a:t>DEMAND</a:t>
            </a:r>
            <a:br/>
            <a:r>
              <a:t>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57600"/>
            <a:ext cx="667512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900" b="0">
                <a:solidFill>
                  <a:srgbClr val="2B3441"/>
                </a:solidFill>
                <a:latin typeface="Aptos"/>
              </a:defRPr>
            </a:pPr>
            <a:r>
              <a:t>Insights from an Excel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224528"/>
            <a:ext cx="694944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400" b="0">
                <a:solidFill>
                  <a:srgbClr val="647080"/>
                </a:solidFill>
                <a:latin typeface="Aptos"/>
              </a:defRPr>
            </a:pPr>
            <a:r>
              <a:t>Usage patterns • Weather • Time trends • Customer segments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89320"/>
            <a:ext cx="45720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000" b="1">
                <a:solidFill>
                  <a:srgbClr val="DC6300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800" b="0">
                <a:solidFill>
                  <a:srgbClr val="647080"/>
                </a:solidFill>
                <a:latin typeface="Aptos"/>
              </a:defRPr>
            </a:pPr>
            <a:r>
              <a:t>BIKE SHARING DEMAND ANALYSIS  •  EXCEL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900" b="0">
                <a:solidFill>
                  <a:srgbClr val="64708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584481-AC1D-DFE3-A086-999148DE22B8}"/>
              </a:ext>
            </a:extLst>
          </p:cNvPr>
          <p:cNvSpPr txBox="1"/>
          <p:nvPr/>
        </p:nvSpPr>
        <p:spPr>
          <a:xfrm>
            <a:off x="11091672" y="320040"/>
            <a:ext cx="502920" cy="45550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1300" b="1">
                <a:solidFill>
                  <a:srgbClr val="DC6300"/>
                </a:solidFill>
                <a:latin typeface="Aptos"/>
              </a:defRPr>
            </a:pPr>
            <a:r>
              <a:rPr lang="en-US" dirty="0"/>
              <a:t>01</a:t>
            </a:r>
          </a:p>
          <a:p>
            <a:pPr algn="r">
              <a:defRPr sz="1300" b="1">
                <a:solidFill>
                  <a:srgbClr val="DC6300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700" b="1">
                <a:solidFill>
                  <a:srgbClr val="1C304A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100" b="0">
                <a:solidFill>
                  <a:srgbClr val="647080"/>
                </a:solidFill>
                <a:latin typeface="Aptos"/>
              </a:defRPr>
            </a:pPr>
            <a:r>
              <a:t>What the dashboard is designed to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61872"/>
            <a:ext cx="914400" cy="54864"/>
          </a:xfrm>
          <a:prstGeom prst="rect">
            <a:avLst/>
          </a:prstGeom>
          <a:solidFill>
            <a:srgbClr val="DC6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1672" y="320040"/>
            <a:ext cx="50292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1300" b="1">
                <a:solidFill>
                  <a:srgbClr val="DC6300"/>
                </a:solidFill>
                <a:latin typeface="Aptos"/>
              </a:defRPr>
            </a:pPr>
            <a:r>
              <a:rPr dirty="0"/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B3441"/>
                </a:solidFill>
                <a:latin typeface="Aptos"/>
              </a:defRPr>
            </a:pPr>
            <a:r>
              <a:t>Understand how bike-sharing demand changes across days, dates, and hours.</a:t>
            </a:r>
          </a:p>
          <a:p>
            <a:pPr>
              <a:spcAft>
                <a:spcPts val="1400"/>
              </a:spcAft>
              <a:defRPr sz="2000">
                <a:solidFill>
                  <a:srgbClr val="2B3441"/>
                </a:solidFill>
                <a:latin typeface="Aptos"/>
              </a:defRPr>
            </a:pPr>
            <a:r>
              <a:t>Compare registered and casual customers to see different usage patterns.</a:t>
            </a:r>
          </a:p>
          <a:p>
            <a:pPr>
              <a:spcAft>
                <a:spcPts val="1400"/>
              </a:spcAft>
              <a:defRPr sz="2000">
                <a:solidFill>
                  <a:srgbClr val="2B3441"/>
                </a:solidFill>
                <a:latin typeface="Aptos"/>
              </a:defRPr>
            </a:pPr>
            <a:r>
              <a:t>Explore how weather categories relate to rental activity.</a:t>
            </a:r>
          </a:p>
          <a:p>
            <a:pPr>
              <a:spcAft>
                <a:spcPts val="1400"/>
              </a:spcAft>
              <a:defRPr sz="2000">
                <a:solidFill>
                  <a:srgbClr val="2B3441"/>
                </a:solidFill>
                <a:latin typeface="Aptos"/>
              </a:defRPr>
            </a:pPr>
            <a:r>
              <a:t>Turn raw rental data into a compact, filterable Excel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800" b="0">
                <a:solidFill>
                  <a:srgbClr val="647080"/>
                </a:solidFill>
                <a:latin typeface="Aptos"/>
              </a:defRPr>
            </a:pPr>
            <a:r>
              <a:t>BIKE SHARING DEMAND ANALYSIS  •  EXCEL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900" b="0">
                <a:solidFill>
                  <a:srgbClr val="647080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700" b="1">
                <a:solidFill>
                  <a:srgbClr val="1C304A"/>
                </a:solidFill>
                <a:latin typeface="Aptos"/>
              </a:defRPr>
            </a:pPr>
            <a:r>
              <a:t>Dashboard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61872"/>
            <a:ext cx="914400" cy="54864"/>
          </a:xfrm>
          <a:prstGeom prst="rect">
            <a:avLst/>
          </a:prstGeom>
          <a:solidFill>
            <a:srgbClr val="DC6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320040"/>
            <a:ext cx="50292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1300" b="1">
                <a:solidFill>
                  <a:srgbClr val="DC630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737360"/>
            <a:ext cx="2240279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000" b="1">
                <a:solidFill>
                  <a:srgbClr val="647080"/>
                </a:solidFill>
                <a:latin typeface="Aptos"/>
              </a:defRPr>
            </a:pPr>
            <a:r>
              <a:t>TOTAL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57400"/>
            <a:ext cx="2240279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500" b="1">
                <a:solidFill>
                  <a:srgbClr val="DC6300"/>
                </a:solidFill>
                <a:latin typeface="Aptos"/>
              </a:defRPr>
            </a:pPr>
            <a:r>
              <a:t>58,304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60020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85032" y="1737360"/>
            <a:ext cx="2240279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000" b="1">
                <a:solidFill>
                  <a:srgbClr val="647080"/>
                </a:solidFill>
                <a:latin typeface="Aptos"/>
              </a:defRPr>
            </a:pPr>
            <a:r>
              <a:t>AVERAGE REGISTERED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2057400"/>
            <a:ext cx="2240279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500" b="1">
                <a:solidFill>
                  <a:srgbClr val="3277EB"/>
                </a:solidFill>
                <a:latin typeface="Aptos"/>
              </a:defRPr>
            </a:pPr>
            <a:r>
              <a:t>1,186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60020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1737360"/>
            <a:ext cx="2240279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000" b="1">
                <a:solidFill>
                  <a:srgbClr val="647080"/>
                </a:solidFill>
                <a:latin typeface="Aptos"/>
              </a:defRPr>
            </a:pPr>
            <a:r>
              <a:t>AVERAGE CASUAL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057400"/>
            <a:ext cx="2240279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500" b="1">
                <a:solidFill>
                  <a:srgbClr val="28A0AA"/>
                </a:solidFill>
                <a:latin typeface="Aptos"/>
              </a:defRPr>
            </a:pPr>
            <a:r>
              <a:t>109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600200"/>
            <a:ext cx="2286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62872" y="1737360"/>
            <a:ext cx="196596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000" b="1">
                <a:solidFill>
                  <a:srgbClr val="647080"/>
                </a:solidFill>
                <a:latin typeface="Aptos"/>
              </a:defRPr>
            </a:pPr>
            <a:r>
              <a:t>TOP DATE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2057400"/>
            <a:ext cx="19659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500" b="1">
                <a:solidFill>
                  <a:srgbClr val="DCA400"/>
                </a:solidFill>
                <a:latin typeface="Aptos"/>
              </a:defRPr>
            </a:pPr>
            <a:r>
              <a:t>1,985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246120"/>
            <a:ext cx="18288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600" b="1">
                <a:solidFill>
                  <a:srgbClr val="1C304A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657600"/>
            <a:ext cx="10607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B3441"/>
                </a:solidFill>
                <a:latin typeface="Aptos"/>
              </a:defRPr>
            </a:pPr>
            <a:r>
              <a:t>Registered customers are the larger segment in the displayed summary.</a:t>
            </a:r>
          </a:p>
          <a:p>
            <a:pPr>
              <a:spcAft>
                <a:spcPts val="1400"/>
              </a:spcAft>
              <a:defRPr sz="1600">
                <a:solidFill>
                  <a:srgbClr val="2B3441"/>
                </a:solidFill>
                <a:latin typeface="Aptos"/>
              </a:defRPr>
            </a:pPr>
            <a:r>
              <a:t>Casual demand is lower on average than registered demand.</a:t>
            </a:r>
          </a:p>
          <a:p>
            <a:pPr>
              <a:spcAft>
                <a:spcPts val="1400"/>
              </a:spcAft>
              <a:defRPr sz="1600">
                <a:solidFill>
                  <a:srgbClr val="2B3441"/>
                </a:solidFill>
                <a:latin typeface="Aptos"/>
              </a:defRPr>
            </a:pPr>
            <a:r>
              <a:t>The dashboard provides multiple views, so users can filter the analysis by weekday, weather, and date.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800" b="0">
                <a:solidFill>
                  <a:srgbClr val="647080"/>
                </a:solidFill>
                <a:latin typeface="Aptos"/>
              </a:defRPr>
            </a:pPr>
            <a:r>
              <a:t>BIKE SHARING DEMAND ANALYSIS  •  EXCEL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900" b="0">
                <a:solidFill>
                  <a:srgbClr val="647080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7089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700" b="1">
                <a:solidFill>
                  <a:srgbClr val="1C304A"/>
                </a:solidFill>
                <a:latin typeface="Aptos"/>
              </a:defRPr>
            </a:pPr>
            <a:r>
              <a:rPr dirty="0"/>
              <a:t>Weekday &amp; Weather </a:t>
            </a:r>
            <a:r>
              <a:rPr lang="en-US" dirty="0"/>
              <a:t>Situation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621792" y="1261872"/>
            <a:ext cx="914400" cy="54864"/>
          </a:xfrm>
          <a:prstGeom prst="rect">
            <a:avLst/>
          </a:prstGeom>
          <a:solidFill>
            <a:srgbClr val="DC6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320040"/>
            <a:ext cx="502920" cy="25545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1300" b="1">
                <a:solidFill>
                  <a:srgbClr val="DC6300"/>
                </a:solidFill>
                <a:latin typeface="Aptos"/>
              </a:defRPr>
            </a:pPr>
            <a:r>
              <a:rPr lang="en-US" dirty="0"/>
              <a:t>04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909560" y="1828800"/>
            <a:ext cx="329184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800" b="1">
                <a:solidFill>
                  <a:srgbClr val="1C304A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331720"/>
            <a:ext cx="3474720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B3441"/>
                </a:solidFill>
                <a:latin typeface="Aptos"/>
              </a:defRPr>
            </a:pPr>
            <a:r>
              <a:rPr dirty="0"/>
              <a:t>The dashboard compares weekday demand by weather category.</a:t>
            </a:r>
          </a:p>
          <a:p>
            <a:pPr>
              <a:spcAft>
                <a:spcPts val="1400"/>
              </a:spcAft>
              <a:defRPr sz="1600">
                <a:solidFill>
                  <a:srgbClr val="2B3441"/>
                </a:solidFill>
                <a:latin typeface="Aptos"/>
              </a:defRPr>
            </a:pPr>
            <a:r>
              <a:rPr dirty="0"/>
              <a:t>Some days show a larger gap between weather groups.</a:t>
            </a:r>
          </a:p>
          <a:p>
            <a:pPr>
              <a:spcAft>
                <a:spcPts val="1400"/>
              </a:spcAft>
              <a:defRPr sz="1600">
                <a:solidFill>
                  <a:srgbClr val="2B3441"/>
                </a:solidFill>
                <a:latin typeface="Aptos"/>
              </a:defRPr>
            </a:pPr>
            <a:r>
              <a:rPr dirty="0"/>
              <a:t>Confirm the pattern with source data before making business claims.</a:t>
            </a:r>
            <a:endParaRPr lang="en-US" dirty="0"/>
          </a:p>
          <a:p>
            <a:pPr>
              <a:spcAft>
                <a:spcPts val="1400"/>
              </a:spcAft>
              <a:defRPr sz="1600">
                <a:solidFill>
                  <a:srgbClr val="2B3441"/>
                </a:solidFill>
                <a:latin typeface="Aptos"/>
              </a:defRPr>
            </a:pPr>
            <a:r>
              <a:rPr lang="en-US" dirty="0"/>
              <a:t>When weather situation is good than  customers on peak.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800" b="0">
                <a:solidFill>
                  <a:srgbClr val="647080"/>
                </a:solidFill>
                <a:latin typeface="Aptos"/>
              </a:defRPr>
            </a:pPr>
            <a:r>
              <a:t>BIKE SHARING DEMAND ANALYSIS  •  EXCEL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900" b="0">
                <a:solidFill>
                  <a:srgbClr val="647080"/>
                </a:solidFill>
                <a:latin typeface="Aptos"/>
              </a:defRPr>
            </a:pPr>
            <a:r>
              <a:t>5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C698413-3C19-8EDB-2532-FD52A8A702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3872907"/>
              </p:ext>
            </p:extLst>
          </p:nvPr>
        </p:nvGraphicFramePr>
        <p:xfrm>
          <a:off x="226602" y="1884844"/>
          <a:ext cx="7339321" cy="37112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700" b="1">
                <a:solidFill>
                  <a:srgbClr val="1C304A"/>
                </a:solidFill>
                <a:latin typeface="Aptos"/>
              </a:defRPr>
            </a:pPr>
            <a:r>
              <a:t>Hourly Demand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8620" y="851868"/>
            <a:ext cx="10972800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100" b="0">
                <a:solidFill>
                  <a:srgbClr val="647080"/>
                </a:solidFill>
                <a:latin typeface="Aptos"/>
              </a:defRPr>
            </a:pPr>
            <a:r>
              <a:rPr sz="1600" dirty="0"/>
              <a:t>The dashboard’s time-wise chart highlights changes through the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61872"/>
            <a:ext cx="914400" cy="54864"/>
          </a:xfrm>
          <a:prstGeom prst="rect">
            <a:avLst/>
          </a:prstGeom>
          <a:solidFill>
            <a:srgbClr val="DC6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502727"/>
              </p:ext>
            </p:extLst>
          </p:nvPr>
        </p:nvGraphicFramePr>
        <p:xfrm>
          <a:off x="731520" y="1508760"/>
          <a:ext cx="68580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909559" y="2513027"/>
            <a:ext cx="3800659" cy="119417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800" b="1">
                <a:solidFill>
                  <a:srgbClr val="1C304A"/>
                </a:solidFill>
                <a:latin typeface="Aptos"/>
              </a:defRPr>
            </a:pPr>
            <a:r>
              <a:rPr lang="en-US" sz="1400" dirty="0"/>
              <a:t>There is a huge rush of customers daily from 9 am to 18 pm.</a:t>
            </a:r>
          </a:p>
          <a:p>
            <a:pPr>
              <a:defRPr sz="1800" b="1">
                <a:solidFill>
                  <a:srgbClr val="1C304A"/>
                </a:solidFill>
                <a:latin typeface="Aptos"/>
              </a:defRPr>
            </a:pPr>
            <a:br>
              <a:rPr lang="en-US" b="1" dirty="0">
                <a:solidFill>
                  <a:srgbClr val="1C304A"/>
                </a:solidFill>
                <a:latin typeface="Aptos"/>
              </a:rPr>
            </a:br>
            <a:r>
              <a:rPr lang="en-US" sz="1400" dirty="0">
                <a:solidFill>
                  <a:srgbClr val="1C304A"/>
                </a:solidFill>
                <a:latin typeface="Aptos"/>
              </a:rPr>
              <a:t>There are very few customers during night time and evening time.</a:t>
            </a:r>
            <a:endParaRPr lang="en-US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800" b="0">
                <a:solidFill>
                  <a:srgbClr val="647080"/>
                </a:solidFill>
                <a:latin typeface="Aptos"/>
              </a:defRPr>
            </a:pPr>
            <a:r>
              <a:t>BIKE SHARING DEMAND ANALYSIS  •  EXCEL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900" b="0">
                <a:solidFill>
                  <a:srgbClr val="647080"/>
                </a:solidFill>
                <a:latin typeface="Aptos"/>
              </a:defRPr>
            </a:pPr>
            <a:r>
              <a:t>6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B424D01-6164-F5B5-141B-6D2F1B155E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059184"/>
              </p:ext>
            </p:extLst>
          </p:nvPr>
        </p:nvGraphicFramePr>
        <p:xfrm>
          <a:off x="7909560" y="4085303"/>
          <a:ext cx="3800659" cy="1629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40943">
                  <a:extLst>
                    <a:ext uri="{9D8B030D-6E8A-4147-A177-3AD203B41FA5}">
                      <a16:colId xmlns:a16="http://schemas.microsoft.com/office/drawing/2014/main" val="2296564274"/>
                    </a:ext>
                  </a:extLst>
                </a:gridCol>
                <a:gridCol w="1959716">
                  <a:extLst>
                    <a:ext uri="{9D8B030D-6E8A-4147-A177-3AD203B41FA5}">
                      <a16:colId xmlns:a16="http://schemas.microsoft.com/office/drawing/2014/main" val="3028780419"/>
                    </a:ext>
                  </a:extLst>
                </a:gridCol>
              </a:tblGrid>
              <a:tr h="407424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Time Based Analysis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9491869"/>
                  </a:ext>
                </a:extLst>
              </a:tr>
              <a:tr h="4074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19--24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Evening Time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11432782"/>
                  </a:ext>
                </a:extLst>
              </a:tr>
              <a:tr h="4074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0--8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Night Time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81082061"/>
                  </a:ext>
                </a:extLst>
              </a:tr>
              <a:tr h="4074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9--18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Day Time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09902554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C721C8F5-5241-4851-C584-2195E2EFAAB8}"/>
              </a:ext>
            </a:extLst>
          </p:cNvPr>
          <p:cNvSpPr txBox="1"/>
          <p:nvPr/>
        </p:nvSpPr>
        <p:spPr>
          <a:xfrm>
            <a:off x="8084820" y="2015613"/>
            <a:ext cx="329184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800" b="1">
                <a:solidFill>
                  <a:srgbClr val="1C304A"/>
                </a:solidFill>
                <a:latin typeface="Aptos"/>
              </a:defRPr>
            </a:pPr>
            <a:r>
              <a:rPr dirty="0"/>
              <a:t>Summary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C1D989-A54C-42ED-44A0-46CDB81BB894}"/>
              </a:ext>
            </a:extLst>
          </p:cNvPr>
          <p:cNvSpPr txBox="1"/>
          <p:nvPr/>
        </p:nvSpPr>
        <p:spPr>
          <a:xfrm>
            <a:off x="11064240" y="320040"/>
            <a:ext cx="502920" cy="45550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1300" b="1">
                <a:solidFill>
                  <a:srgbClr val="DC6300"/>
                </a:solidFill>
                <a:latin typeface="Aptos"/>
              </a:defRPr>
            </a:pPr>
            <a:r>
              <a:rPr lang="en-US" dirty="0"/>
              <a:t>05</a:t>
            </a:r>
          </a:p>
          <a:p>
            <a:pPr algn="r">
              <a:defRPr sz="1300" b="1">
                <a:solidFill>
                  <a:srgbClr val="DC6300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8620" y="281744"/>
            <a:ext cx="10972800" cy="60939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700" b="1">
                <a:solidFill>
                  <a:srgbClr val="1C304A"/>
                </a:solidFill>
                <a:latin typeface="Aptos"/>
              </a:defRPr>
            </a:pPr>
            <a:r>
              <a:rPr lang="en-US" sz="1600" dirty="0"/>
              <a:t>CASUAL CUSTOMERS DAILY  DATA</a:t>
            </a:r>
          </a:p>
          <a:p>
            <a:pPr>
              <a:defRPr sz="2700" b="1">
                <a:solidFill>
                  <a:srgbClr val="1C304A"/>
                </a:solidFill>
                <a:latin typeface="Aptos"/>
              </a:defRPr>
            </a:pPr>
            <a:endParaRPr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11078988" y="320040"/>
            <a:ext cx="502920" cy="25545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1300" b="1">
                <a:solidFill>
                  <a:srgbClr val="DC6300"/>
                </a:solidFill>
                <a:latin typeface="Aptos"/>
              </a:defRPr>
            </a:pPr>
            <a:r>
              <a:rPr dirty="0"/>
              <a:t>0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38912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800" b="1">
                <a:solidFill>
                  <a:srgbClr val="1C304A"/>
                </a:solidFill>
                <a:latin typeface="Aptos"/>
              </a:defRPr>
            </a:pPr>
            <a:r>
              <a:rPr dirty="0"/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240280"/>
            <a:ext cx="4754880" cy="1928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2B3441"/>
                </a:solidFill>
                <a:latin typeface="Aptos"/>
              </a:defRPr>
            </a:pPr>
            <a:r>
              <a:rPr dirty="0"/>
              <a:t>The dashboard shows average registered = 1,186 and average casual = 109.</a:t>
            </a:r>
          </a:p>
          <a:p>
            <a:pPr>
              <a:spcAft>
                <a:spcPts val="1400"/>
              </a:spcAft>
              <a:defRPr sz="1600">
                <a:solidFill>
                  <a:srgbClr val="2B3441"/>
                </a:solidFill>
                <a:latin typeface="Aptos"/>
              </a:defRPr>
            </a:pPr>
            <a:r>
              <a:rPr dirty="0"/>
              <a:t>Registered average is about 10.9 times the casual average, based on the displayed figures.</a:t>
            </a:r>
            <a:endParaRPr lang="en-US" dirty="0"/>
          </a:p>
          <a:p>
            <a:pPr>
              <a:spcAft>
                <a:spcPts val="1400"/>
              </a:spcAft>
              <a:defRPr sz="1600">
                <a:solidFill>
                  <a:srgbClr val="2B3441"/>
                </a:solidFill>
                <a:latin typeface="Aptos"/>
              </a:defRPr>
            </a:pPr>
            <a:r>
              <a:rPr lang="en-US" sz="1400" dirty="0"/>
              <a:t>CASUAL CUSTOMERS DAILY  DATA </a:t>
            </a:r>
            <a:r>
              <a:rPr lang="en-US" sz="1600" b="1" dirty="0"/>
              <a:t>focus on “Saturday” and “Sunday”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800" b="0">
                <a:solidFill>
                  <a:srgbClr val="647080"/>
                </a:solidFill>
                <a:latin typeface="Aptos"/>
              </a:defRPr>
            </a:pPr>
            <a:r>
              <a:t>BIKE SHARING DEMAND ANALYSIS  •  EXCEL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900" b="0">
                <a:solidFill>
                  <a:srgbClr val="647080"/>
                </a:solidFill>
                <a:latin typeface="Aptos"/>
              </a:defRPr>
            </a:pPr>
            <a:r>
              <a:t>7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4318C2F0-28CF-CAC2-B059-6C59A83A0D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3670372"/>
              </p:ext>
            </p:extLst>
          </p:nvPr>
        </p:nvGraphicFramePr>
        <p:xfrm>
          <a:off x="0" y="1417320"/>
          <a:ext cx="5560142" cy="43787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700" b="1">
                <a:solidFill>
                  <a:srgbClr val="1C304A"/>
                </a:solidFill>
                <a:latin typeface="Aptos"/>
              </a:defRPr>
            </a:pPr>
            <a:r>
              <a:t>Top Dates by Client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100" b="0">
                <a:solidFill>
                  <a:srgbClr val="647080"/>
                </a:solidFill>
                <a:latin typeface="Aptos"/>
              </a:defRPr>
            </a:pPr>
            <a:r>
              <a:t>The dashboard displays five high-value dates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61872"/>
            <a:ext cx="914400" cy="54864"/>
          </a:xfrm>
          <a:prstGeom prst="rect">
            <a:avLst/>
          </a:prstGeom>
          <a:solidFill>
            <a:srgbClr val="DC6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320040"/>
            <a:ext cx="502920" cy="25545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1300" b="1">
                <a:solidFill>
                  <a:srgbClr val="DC6300"/>
                </a:solidFill>
                <a:latin typeface="Aptos"/>
              </a:defRPr>
            </a:pPr>
            <a:r>
              <a:rPr lang="en-US" dirty="0"/>
              <a:t>07</a:t>
            </a:r>
            <a:endParaRPr dirty="0"/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0274857"/>
              </p:ext>
            </p:extLst>
          </p:nvPr>
        </p:nvGraphicFramePr>
        <p:xfrm>
          <a:off x="221226" y="1508760"/>
          <a:ext cx="7368294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909560" y="1828800"/>
            <a:ext cx="329184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800" b="1">
                <a:solidFill>
                  <a:srgbClr val="1C304A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331720"/>
            <a:ext cx="3566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2B3441"/>
                </a:solidFill>
                <a:latin typeface="Aptos"/>
              </a:defRPr>
            </a:pPr>
            <a:r>
              <a:t>The highest displayed value is 1,985.</a:t>
            </a:r>
          </a:p>
          <a:p>
            <a:pPr>
              <a:spcAft>
                <a:spcPts val="1400"/>
              </a:spcAft>
              <a:defRPr sz="1500">
                <a:solidFill>
                  <a:srgbClr val="2B3441"/>
                </a:solidFill>
                <a:latin typeface="Aptos"/>
              </a:defRPr>
            </a:pPr>
            <a:r>
              <a:t>The next values are 1,927, 1,746, 1,712, and 1,708.</a:t>
            </a:r>
          </a:p>
          <a:p>
            <a:pPr>
              <a:spcAft>
                <a:spcPts val="1400"/>
              </a:spcAft>
              <a:defRPr sz="1500">
                <a:solidFill>
                  <a:srgbClr val="2B3441"/>
                </a:solidFill>
                <a:latin typeface="Aptos"/>
              </a:defRPr>
            </a:pPr>
            <a:r>
              <a:t>Check date formatting and data definitions before presenting these as daily totals.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800" b="0">
                <a:solidFill>
                  <a:srgbClr val="647080"/>
                </a:solidFill>
                <a:latin typeface="Aptos"/>
              </a:defRPr>
            </a:pPr>
            <a:r>
              <a:t>BIKE SHARING DEMAND ANALYSIS  •  EXCEL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900" b="0">
                <a:solidFill>
                  <a:srgbClr val="647080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2700" b="1">
                <a:solidFill>
                  <a:srgbClr val="1C304A"/>
                </a:solidFill>
                <a:latin typeface="Aptos"/>
              </a:defRPr>
            </a:pPr>
            <a:r>
              <a:t>Interactive Filters &amp; Business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22467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100" b="0">
                <a:solidFill>
                  <a:srgbClr val="647080"/>
                </a:solidFill>
                <a:latin typeface="Aptos"/>
              </a:defRPr>
            </a:pPr>
            <a:r>
              <a:rPr dirty="0"/>
              <a:t>Use slicers and charts 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61872"/>
            <a:ext cx="914400" cy="54864"/>
          </a:xfrm>
          <a:prstGeom prst="rect">
            <a:avLst/>
          </a:prstGeom>
          <a:solidFill>
            <a:srgbClr val="DC6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320040"/>
            <a:ext cx="502920" cy="25545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1300" b="1">
                <a:solidFill>
                  <a:srgbClr val="DC6300"/>
                </a:solidFill>
                <a:latin typeface="Aptos"/>
              </a:defRPr>
            </a:pPr>
            <a:r>
              <a:rPr lang="en-US" dirty="0"/>
              <a:t>08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B3441"/>
                </a:solidFill>
                <a:latin typeface="Aptos"/>
              </a:defRPr>
            </a:pPr>
            <a:r>
              <a:t>Weekday slicer: compare Monday–Sunday demand.</a:t>
            </a:r>
          </a:p>
          <a:p>
            <a:pPr>
              <a:spcAft>
                <a:spcPts val="1400"/>
              </a:spcAft>
              <a:defRPr sz="1800">
                <a:solidFill>
                  <a:srgbClr val="2B3441"/>
                </a:solidFill>
                <a:latin typeface="Aptos"/>
              </a:defRPr>
            </a:pPr>
            <a:r>
              <a:t>Weather filter: examine how weather categories align with rentals.</a:t>
            </a:r>
          </a:p>
          <a:p>
            <a:pPr>
              <a:spcAft>
                <a:spcPts val="1400"/>
              </a:spcAft>
              <a:defRPr sz="1800">
                <a:solidFill>
                  <a:srgbClr val="2B3441"/>
                </a:solidFill>
                <a:latin typeface="Aptos"/>
              </a:defRPr>
            </a:pPr>
            <a:r>
              <a:t>Date timeline: focus on a selected month or period.</a:t>
            </a:r>
          </a:p>
          <a:p>
            <a:pPr>
              <a:spcAft>
                <a:spcPts val="1400"/>
              </a:spcAft>
              <a:defRPr sz="1800">
                <a:solidFill>
                  <a:srgbClr val="2B3441"/>
                </a:solidFill>
                <a:latin typeface="Aptos"/>
              </a:defRPr>
            </a:pPr>
            <a:r>
              <a:t>Hourly chart: locate likely peak periods.</a:t>
            </a:r>
          </a:p>
          <a:p>
            <a:pPr>
              <a:spcAft>
                <a:spcPts val="1400"/>
              </a:spcAft>
              <a:defRPr sz="1800">
                <a:solidFill>
                  <a:srgbClr val="2B3441"/>
                </a:solidFill>
                <a:latin typeface="Aptos"/>
              </a:defRPr>
            </a:pPr>
            <a:r>
              <a:t>Customer split: compare registered and casual behaviour.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800" b="0">
                <a:solidFill>
                  <a:srgbClr val="647080"/>
                </a:solidFill>
                <a:latin typeface="Aptos"/>
              </a:defRPr>
            </a:pPr>
            <a:r>
              <a:t>BIKE SHARING DEMAND ANALYSIS  •  EXCEL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900" b="0">
                <a:solidFill>
                  <a:srgbClr val="647080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88953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320040"/>
            <a:ext cx="502920" cy="25545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1300" b="1">
                <a:solidFill>
                  <a:srgbClr val="DC6300"/>
                </a:solidFill>
                <a:latin typeface="Aptos"/>
              </a:defRPr>
            </a:pPr>
            <a:r>
              <a:rPr lang="en-US" dirty="0"/>
              <a:t>09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900" b="0">
                <a:solidFill>
                  <a:srgbClr val="647080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12" name="Picture 11" descr="Dashboard.PNG">
            <a:extLst>
              <a:ext uri="{FF2B5EF4-FFF2-40B4-BE49-F238E27FC236}">
                <a16:creationId xmlns:a16="http://schemas.microsoft.com/office/drawing/2014/main" id="{0ADAFF9F-EC67-B4C2-1208-D98EEDC89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" y="973836"/>
            <a:ext cx="12186210" cy="585216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33D6F11-9FF4-843C-90C1-E06929B43001}"/>
              </a:ext>
            </a:extLst>
          </p:cNvPr>
          <p:cNvSpPr txBox="1"/>
          <p:nvPr/>
        </p:nvSpPr>
        <p:spPr>
          <a:xfrm>
            <a:off x="2310580" y="182880"/>
            <a:ext cx="8753660" cy="36317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800" b="0">
                <a:solidFill>
                  <a:srgbClr val="647080"/>
                </a:solidFill>
                <a:latin typeface="Aptos"/>
              </a:defRPr>
            </a:pPr>
            <a:r>
              <a:rPr sz="2000" b="1" dirty="0">
                <a:solidFill>
                  <a:schemeClr val="accent6">
                    <a:lumMod val="75000"/>
                  </a:schemeClr>
                </a:solidFill>
              </a:rPr>
              <a:t>BIKE SHARING DEMAND ANALYSIS  •  EXCEL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32B74-633A-5C9C-FD1D-9D1B12386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09F095-30FB-2F3C-AFD6-30C16FF201BE}"/>
              </a:ext>
            </a:extLst>
          </p:cNvPr>
          <p:cNvSpPr/>
          <p:nvPr/>
        </p:nvSpPr>
        <p:spPr>
          <a:xfrm>
            <a:off x="12344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78A834-863B-CD9F-1822-40FCCD8DF8E1}"/>
              </a:ext>
            </a:extLst>
          </p:cNvPr>
          <p:cNvSpPr txBox="1"/>
          <p:nvPr/>
        </p:nvSpPr>
        <p:spPr>
          <a:xfrm>
            <a:off x="594360" y="320040"/>
            <a:ext cx="10972800" cy="47089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1">
                <a:solidFill>
                  <a:srgbClr val="1C304A"/>
                </a:solidFill>
                <a:latin typeface="Aptos"/>
              </a:defRPr>
            </a:pPr>
            <a:r>
              <a:rPr kumimoji="0" sz="2700" b="1" i="0" u="none" strike="noStrike" kern="1200" cap="none" spc="0" normalizeH="0" baseline="0" noProof="0" dirty="0">
                <a:ln>
                  <a:noFill/>
                </a:ln>
                <a:solidFill>
                  <a:srgbClr val="1C304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AD71F8-F744-8169-CA27-B15FB1A14A18}"/>
              </a:ext>
            </a:extLst>
          </p:cNvPr>
          <p:cNvSpPr txBox="1"/>
          <p:nvPr/>
        </p:nvSpPr>
        <p:spPr>
          <a:xfrm>
            <a:off x="621792" y="868680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647080"/>
                </a:solidFill>
                <a:latin typeface="Aptos"/>
              </a:defRPr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64708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From dashboard visuals to practical decisions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CFAA07-0965-62F4-3F76-8F8E4151DD5C}"/>
              </a:ext>
            </a:extLst>
          </p:cNvPr>
          <p:cNvSpPr/>
          <p:nvPr/>
        </p:nvSpPr>
        <p:spPr>
          <a:xfrm>
            <a:off x="621792" y="1261872"/>
            <a:ext cx="914400" cy="54864"/>
          </a:xfrm>
          <a:prstGeom prst="rect">
            <a:avLst/>
          </a:prstGeom>
          <a:solidFill>
            <a:srgbClr val="DC6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214DA5-F558-B5EB-0A77-084F4EF84903}"/>
              </a:ext>
            </a:extLst>
          </p:cNvPr>
          <p:cNvSpPr txBox="1"/>
          <p:nvPr/>
        </p:nvSpPr>
        <p:spPr>
          <a:xfrm>
            <a:off x="11064240" y="320040"/>
            <a:ext cx="502920" cy="25545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DC6300"/>
                </a:solidFill>
                <a:latin typeface="Aptos"/>
              </a:defRPr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C63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10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DC63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51CFBE-165F-034F-46DE-D1E84B456AD7}"/>
              </a:ext>
            </a:extLst>
          </p:cNvPr>
          <p:cNvSpPr txBox="1"/>
          <p:nvPr/>
        </p:nvSpPr>
        <p:spPr>
          <a:xfrm>
            <a:off x="777240" y="1600200"/>
            <a:ext cx="10607040" cy="1328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Tx/>
              <a:buFontTx/>
              <a:buNone/>
              <a:tabLst/>
              <a:defRPr sz="1900">
                <a:solidFill>
                  <a:srgbClr val="2B3441"/>
                </a:solidFill>
                <a:latin typeface="Aptos"/>
              </a:defRPr>
            </a:pP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srgbClr val="2B344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 dashboard brings key customer, date, weekday, weather, and hourly views into one place.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Tx/>
              <a:buFontTx/>
              <a:buNone/>
              <a:tabLst/>
              <a:defRPr sz="1900">
                <a:solidFill>
                  <a:srgbClr val="2B3441"/>
                </a:solidFill>
                <a:latin typeface="Aptos"/>
              </a:defRPr>
            </a:pP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srgbClr val="2B344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Displayed KPIs indicate a higher registered-customer average than casual-customer average.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Tx/>
              <a:buSzTx/>
              <a:buFontTx/>
              <a:buNone/>
              <a:tabLst/>
              <a:defRPr sz="1900">
                <a:solidFill>
                  <a:srgbClr val="2B3441"/>
                </a:solidFill>
                <a:latin typeface="Aptos"/>
              </a:defRPr>
            </a:pP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srgbClr val="2B344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Time and weather comparisons can guide deeper demand analysis.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164A1F-C4CB-A16A-AAB6-A565063B5FF1}"/>
              </a:ext>
            </a:extLst>
          </p:cNvPr>
          <p:cNvSpPr txBox="1"/>
          <p:nvPr/>
        </p:nvSpPr>
        <p:spPr>
          <a:xfrm>
            <a:off x="3727802" y="3810046"/>
            <a:ext cx="3389179" cy="4572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45720" tIns="27432" rIns="45720" bIns="27432">
            <a:spAutoFit/>
          </a:bodyPr>
          <a:lstStyle/>
          <a:p>
            <a:pPr algn="ctr">
              <a:defRPr sz="2500" b="1">
                <a:solidFill>
                  <a:srgbClr val="DC6300"/>
                </a:solidFill>
                <a:latin typeface="Aptos"/>
              </a:defRPr>
            </a:pPr>
            <a:r>
              <a:rPr kumimoji="0" sz="2500" b="1" i="0" u="none" strike="noStrike" kern="1200" cap="none" spc="0" normalizeH="0" baseline="0" noProof="0" dirty="0">
                <a:ln>
                  <a:noFill/>
                </a:ln>
                <a:solidFill>
                  <a:srgbClr val="DC63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Thank you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12261C-8594-7255-6F3C-10B22A081671}"/>
              </a:ext>
            </a:extLst>
          </p:cNvPr>
          <p:cNvSpPr txBox="1"/>
          <p:nvPr/>
        </p:nvSpPr>
        <p:spPr>
          <a:xfrm>
            <a:off x="621792" y="6510528"/>
            <a:ext cx="96012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647080"/>
                </a:solidFill>
                <a:latin typeface="Aptos"/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64708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BIKE SHARING DEMAND ANALYSIS  •  EXCEL DASHBOARD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2D78FA-A1CF-C495-3F85-586C4D8CDD90}"/>
              </a:ext>
            </a:extLst>
          </p:cNvPr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647080"/>
                </a:solidFill>
                <a:latin typeface="Aptos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64708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2F58D8-6312-D50B-CE5D-83DE85CDFF72}"/>
              </a:ext>
            </a:extLst>
          </p:cNvPr>
          <p:cNvSpPr txBox="1"/>
          <p:nvPr/>
        </p:nvSpPr>
        <p:spPr>
          <a:xfrm>
            <a:off x="8787383" y="5406111"/>
            <a:ext cx="2871217" cy="36317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1">
                <a:solidFill>
                  <a:srgbClr val="1C304A"/>
                </a:solidFill>
                <a:latin typeface="Aptos"/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ISHWAR PRAJAPATI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BCE621-0349-A2E7-F2CC-784E02562F65}"/>
              </a:ext>
            </a:extLst>
          </p:cNvPr>
          <p:cNvSpPr txBox="1"/>
          <p:nvPr/>
        </p:nvSpPr>
        <p:spPr>
          <a:xfrm>
            <a:off x="9109980" y="4946243"/>
            <a:ext cx="2045700" cy="36317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647080"/>
                </a:solidFill>
                <a:latin typeface="Aptos"/>
              </a:defRPr>
            </a:pPr>
            <a:r>
              <a:rPr lang="en-US" sz="2000" b="1" dirty="0">
                <a:solidFill>
                  <a:srgbClr val="647080"/>
                </a:solidFill>
                <a:latin typeface="Aptos"/>
              </a:rPr>
              <a:t>Created By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64708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8209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</TotalTime>
  <Words>542</Words>
  <Application>Microsoft Office PowerPoint</Application>
  <PresentationFormat>Widescreen</PresentationFormat>
  <Paragraphs>101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ishwar prajapati</cp:lastModifiedBy>
  <cp:revision>22</cp:revision>
  <dcterms:created xsi:type="dcterms:W3CDTF">2013-01-27T09:14:16Z</dcterms:created>
  <dcterms:modified xsi:type="dcterms:W3CDTF">2026-10-16T14:44:30Z</dcterms:modified>
  <cp:category/>
</cp:coreProperties>
</file>